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Experiment 7 and its aim. The image is the Report 7 detail table from the Global Superstore Power BI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margin is about 11.5% (1.10M profit on 9.60M sales). Profit is split evenly across Consumer, Corporate and Home Office segments. Copiers (221.27K) and Phones (180.1K) are top sub-categories. Top customer: Tamara Chand at 31.4K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shown reflect the Month slicer selection (months 4 to 8) on this dashboard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for Asia is 215,877.24 divided by 2,211,981.83. Order counts shown for Furniture and Office Supplies categories (19K orders).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are derived from the scorecard, trend and geography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8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Advanced Analytics with BI Reports using Microsoft Power BI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Lab  |  Unit 2, Session 7</a:t>
            </a:r>
            <a:endParaRPr lang="en-US" sz="1400" dirty="0"/>
          </a:p>
        </p:txBody>
      </p:sp>
      <p:pic>
        <p:nvPicPr>
          <p:cNvPr id="5" name="Image 0" descr="/tmp/claude-0/-home-claude/bc1f900e-99f2-5368-9dc0-eb2e69c97b45/scratchpad/img/p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548640"/>
            <a:ext cx="3566160" cy="20623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0" y="265671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7: Global Superstore detail table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3D2B34"/>
          </a:solidFill>
          <a:ln w="12700">
            <a:solidFill>
              <a:srgbClr val="3D2B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429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advanced analytics with Business Intelligence reports using Microsoft Power BI and generate business insights, strategic recommendations, and executive presentations that support organizational decision-making.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scorecard at a glance</a:t>
            </a:r>
            <a:endParaRPr lang="en-US" sz="3200" dirty="0"/>
          </a:p>
        </p:txBody>
      </p:sp>
      <p:pic>
        <p:nvPicPr>
          <p:cNvPr id="3" name="Image 0" descr="/tmp/claude-0/-home-claude/bc1f900e-99f2-5368-9dc0-eb2e69c97b45/scratchpad/img/p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937760" cy="28555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442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Business Scorecard dashboard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760720" y="1143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216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44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167128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44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1.10M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3191256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3264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44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9.60M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earns about 50% of profit (547.83K) from only 6K of 26K orders; Office Supplies drives volume with 13K orders.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 |  BI Lab Unit 2, Session 7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 and profit drivers</a:t>
            </a:r>
            <a:endParaRPr lang="en-US" sz="3200" dirty="0"/>
          </a:p>
        </p:txBody>
      </p:sp>
      <p:pic>
        <p:nvPicPr>
          <p:cNvPr id="3" name="Image 0" descr="/tmp/claude-0/-home-claude/bc1f900e-99f2-5368-9dc0-eb2e69c97b45/scratchpad/img/p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03520" cy="30670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5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over time (Month filter: Apr to Aug)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14300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peaks keep rising: about 12.8K in 2014 to 26.1K in 2017.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delivers 53.11% of profit (220.77K); Office Supplies 31.41%; Furniture 15.48%.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mostly positive, with occasional loss days of up to 3.5K.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 |  BI Lab Unit 2, Session 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and order patterns</a:t>
            </a:r>
            <a:endParaRPr lang="en-US" sz="3200" dirty="0"/>
          </a:p>
        </p:txBody>
      </p:sp>
      <p:pic>
        <p:nvPicPr>
          <p:cNvPr id="3" name="Image 0" descr="/tmp/claude-0/-home-claude/bc1f900e-99f2-5368-9dc0-eb2e69c97b45/scratchpad/img/p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03520" cy="30670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5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 by country and region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14300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concentrated in North America and Europe, the largest map bubbles.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regions selected in Report 7: 2.21M sales, 215.9K profit (about 9.8% margin).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Chairs and Binders lead order volume; some months run at a loss.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 |  BI Lab Unit 2, Session 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D2B34"/>
          </a:solidFill>
          <a:ln w="12700">
            <a:solidFill>
              <a:srgbClr val="3D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8444F"/>
          </a:solidFill>
          <a:ln w="12700">
            <a:solidFill>
              <a:srgbClr val="F84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Technology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share from the fewest orders; prioritise Copiers and Phones.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D2B34"/>
          </a:solidFill>
          <a:ln w="12700">
            <a:solidFill>
              <a:srgbClr val="3D2B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F8444F"/>
          </a:solidFill>
          <a:ln w="12700">
            <a:solidFill>
              <a:srgbClr val="F844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loss-making orders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and discounts on lines that sell below cost.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D2B34"/>
          </a:solidFill>
          <a:ln w="12700">
            <a:solidFill>
              <a:srgbClr val="3D2B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F8444F"/>
          </a:solidFill>
          <a:ln w="12700">
            <a:solidFill>
              <a:srgbClr val="F84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peaks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peaks grow every year; align stock and staffing ahead of them.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D2B34"/>
          </a:solidFill>
          <a:ln w="12700">
            <a:solidFill>
              <a:srgbClr val="3D2B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926080"/>
            <a:ext cx="411480" cy="411480"/>
          </a:xfrm>
          <a:prstGeom prst="ellipse">
            <a:avLst/>
          </a:prstGeom>
          <a:solidFill>
            <a:srgbClr val="F8444F"/>
          </a:solidFill>
          <a:ln w="12700">
            <a:solidFill>
              <a:srgbClr val="F844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beyond core markets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mid-size regions and retain top customers.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integrating analytics into Power BI reports turns raw sales data into clear decisions.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7 - Advanced Analytics with BI Reports in Power BI</dc:title>
  <dc:subject>PptxGenJS Presentation</dc:subject>
  <dc:creator>PptxGenJS</dc:creator>
  <cp:lastModifiedBy>PptxGenJS</cp:lastModifiedBy>
  <cp:revision>1</cp:revision>
  <dcterms:created xsi:type="dcterms:W3CDTF">2026-10-30T05:19:26Z</dcterms:created>
  <dcterms:modified xsi:type="dcterms:W3CDTF">2026-10-30T05:19:26Z</dcterms:modified>
</cp:coreProperties>
</file>